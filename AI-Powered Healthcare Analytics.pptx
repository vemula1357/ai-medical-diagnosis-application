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4" roundtripDataSignature="AMtx7mijXQlWxtrEcvg90nBJUlIhC7JgQ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4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1" name="Google Shape;19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3" name="Google Shape;203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1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1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2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3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3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4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4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5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5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15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5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15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8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8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8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1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9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9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0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1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1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0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0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I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BE4D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"/>
          <p:cNvSpPr/>
          <p:nvPr/>
        </p:nvSpPr>
        <p:spPr>
          <a:xfrm>
            <a:off x="685800" y="685800"/>
            <a:ext cx="10820400" cy="54864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"/>
          <p:cNvSpPr txBox="1"/>
          <p:nvPr>
            <p:ph type="ctrTitle"/>
          </p:nvPr>
        </p:nvSpPr>
        <p:spPr>
          <a:xfrm>
            <a:off x="2659529" y="2085788"/>
            <a:ext cx="6884895" cy="149664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595959"/>
              </a:buClr>
              <a:buSzPts val="3200"/>
              <a:buFont typeface="Calibri"/>
              <a:buNone/>
            </a:pPr>
            <a:r>
              <a:rPr lang="en-IN" sz="3200">
                <a:solidFill>
                  <a:srgbClr val="595959"/>
                </a:solidFill>
              </a:rPr>
              <a:t>AI-Powered Healthcare Analytics: </a:t>
            </a:r>
            <a:br>
              <a:rPr lang="en-IN" sz="3200">
                <a:solidFill>
                  <a:srgbClr val="595959"/>
                </a:solidFill>
              </a:rPr>
            </a:br>
            <a:r>
              <a:rPr lang="en-IN" sz="3200">
                <a:solidFill>
                  <a:srgbClr val="595959"/>
                </a:solidFill>
              </a:rPr>
              <a:t>A Data-Driven Approach to Medical Diagnosis &amp; Decision Support</a:t>
            </a:r>
            <a:endParaRPr sz="3200">
              <a:solidFill>
                <a:srgbClr val="595959"/>
              </a:solidFill>
            </a:endParaRPr>
          </a:p>
        </p:txBody>
      </p:sp>
      <p:sp>
        <p:nvSpPr>
          <p:cNvPr id="88" name="Google Shape;88;p1"/>
          <p:cNvSpPr txBox="1"/>
          <p:nvPr>
            <p:ph idx="1" type="subTitle"/>
          </p:nvPr>
        </p:nvSpPr>
        <p:spPr>
          <a:xfrm>
            <a:off x="3048000" y="3948056"/>
            <a:ext cx="6096000" cy="83013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</a:pPr>
            <a:r>
              <a:t/>
            </a:r>
            <a:endParaRPr sz="1400">
              <a:solidFill>
                <a:srgbClr val="595959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"/>
          <p:cNvSpPr/>
          <p:nvPr/>
        </p:nvSpPr>
        <p:spPr>
          <a:xfrm>
            <a:off x="0" y="0"/>
            <a:ext cx="12191999" cy="685736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94" name="Google Shape;94;p2"/>
          <p:cNvGrpSpPr/>
          <p:nvPr/>
        </p:nvGrpSpPr>
        <p:grpSpPr>
          <a:xfrm>
            <a:off x="4" y="1216597"/>
            <a:ext cx="731521" cy="673460"/>
            <a:chOff x="3940602" y="308034"/>
            <a:chExt cx="2116791" cy="3428999"/>
          </a:xfrm>
        </p:grpSpPr>
        <p:sp>
          <p:nvSpPr>
            <p:cNvPr id="95" name="Google Shape;95;p2"/>
            <p:cNvSpPr/>
            <p:nvPr/>
          </p:nvSpPr>
          <p:spPr>
            <a:xfrm>
              <a:off x="3940602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2"/>
            <p:cNvSpPr/>
            <p:nvPr/>
          </p:nvSpPr>
          <p:spPr>
            <a:xfrm>
              <a:off x="4715626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7" name="Google Shape;97;p2"/>
            <p:cNvSpPr/>
            <p:nvPr/>
          </p:nvSpPr>
          <p:spPr>
            <a:xfrm>
              <a:off x="5490650" y="308034"/>
              <a:ext cx="566743" cy="3428999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8" name="Google Shape;98;p2"/>
          <p:cNvSpPr/>
          <p:nvPr/>
        </p:nvSpPr>
        <p:spPr>
          <a:xfrm>
            <a:off x="640079" y="613954"/>
            <a:ext cx="10907487" cy="1894116"/>
          </a:xfrm>
          <a:prstGeom prst="rect">
            <a:avLst/>
          </a:prstGeom>
          <a:solidFill>
            <a:schemeClr val="lt1"/>
          </a:solidFill>
          <a:ln>
            <a:noFill/>
          </a:ln>
          <a:effectLst>
            <a:outerShdw blurRad="139700" rotWithShape="0" algn="t" dir="5400000" dist="127000">
              <a:srgbClr val="000000">
                <a:alpha val="1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2"/>
          <p:cNvSpPr txBox="1"/>
          <p:nvPr>
            <p:ph type="title"/>
          </p:nvPr>
        </p:nvSpPr>
        <p:spPr>
          <a:xfrm>
            <a:off x="1043631" y="809898"/>
            <a:ext cx="10173010" cy="1554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Calibri"/>
              <a:buNone/>
            </a:pPr>
            <a:r>
              <a:rPr lang="en-IN" sz="4800"/>
              <a:t>Description of the Intended User </a:t>
            </a:r>
            <a:endParaRPr sz="4800"/>
          </a:p>
        </p:txBody>
      </p:sp>
      <p:cxnSp>
        <p:nvCxnSpPr>
          <p:cNvPr id="100" name="Google Shape;100;p2"/>
          <p:cNvCxnSpPr/>
          <p:nvPr/>
        </p:nvCxnSpPr>
        <p:spPr>
          <a:xfrm rot="10800000">
            <a:off x="838200" y="6485313"/>
            <a:ext cx="10515600" cy="0"/>
          </a:xfrm>
          <a:prstGeom prst="straightConnector1">
            <a:avLst/>
          </a:prstGeom>
          <a:noFill/>
          <a:ln cap="flat" cmpd="sng" w="57150">
            <a:solidFill>
              <a:schemeClr val="accent4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01" name="Google Shape;101;p2"/>
          <p:cNvSpPr/>
          <p:nvPr/>
        </p:nvSpPr>
        <p:spPr>
          <a:xfrm>
            <a:off x="904602" y="3017519"/>
            <a:ext cx="10378440" cy="3209902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The challenge is to balance both the clinicians’ (detailed insights) and the administrators’ (resource allocation) needs while staying compliant with GDPR/HIPAA (per Charter’s Risk Matrix).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Applied Charter’s stakeholder list (doctors, admins, patients) to define user personas based on Charter’s stakeholder list (doctors, admins, patients), then prioritized features such as audit logs (Traceability Matrix).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3"/>
          <p:cNvSpPr/>
          <p:nvPr/>
        </p:nvSpPr>
        <p:spPr>
          <a:xfrm>
            <a:off x="0" y="0"/>
            <a:ext cx="4890596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3"/>
          <p:cNvSpPr txBox="1"/>
          <p:nvPr>
            <p:ph type="title"/>
          </p:nvPr>
        </p:nvSpPr>
        <p:spPr>
          <a:xfrm>
            <a:off x="838200" y="1195697"/>
            <a:ext cx="3200400" cy="4238118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Calibri"/>
              <a:buNone/>
            </a:pPr>
            <a:r>
              <a:rPr lang="en-IN">
                <a:solidFill>
                  <a:schemeClr val="lt1"/>
                </a:solidFill>
              </a:rPr>
              <a:t>Decision-Making Needs of the User </a:t>
            </a:r>
            <a:endParaRPr>
              <a:solidFill>
                <a:schemeClr val="lt1"/>
              </a:solidFill>
            </a:endParaRPr>
          </a:p>
        </p:txBody>
      </p:sp>
      <p:grpSp>
        <p:nvGrpSpPr>
          <p:cNvPr id="109" name="Google Shape;109;p3"/>
          <p:cNvGrpSpPr/>
          <p:nvPr/>
        </p:nvGrpSpPr>
        <p:grpSpPr>
          <a:xfrm>
            <a:off x="0" y="202912"/>
            <a:ext cx="1910252" cy="709660"/>
            <a:chOff x="2267504" y="2540250"/>
            <a:chExt cx="1990951" cy="739640"/>
          </a:xfrm>
        </p:grpSpPr>
        <p:sp>
          <p:nvSpPr>
            <p:cNvPr id="110" name="Google Shape;110;p3"/>
            <p:cNvSpPr/>
            <p:nvPr/>
          </p:nvSpPr>
          <p:spPr>
            <a:xfrm>
              <a:off x="2267504" y="254025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1" name="Google Shape;111;p3"/>
            <p:cNvSpPr/>
            <p:nvPr/>
          </p:nvSpPr>
          <p:spPr>
            <a:xfrm>
              <a:off x="2267504" y="2993660"/>
              <a:ext cx="1990951" cy="286230"/>
            </a:xfrm>
            <a:custGeom>
              <a:rect b="b" l="l" r="r" t="t"/>
              <a:pathLst>
                <a:path extrusionOk="0" h="286230" w="1990951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2" name="Google Shape;112;p3"/>
          <p:cNvSpPr/>
          <p:nvPr/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rgbClr val="FFFFFF"/>
          </a:solidFill>
          <a:ln cap="flat" cmpd="sng" w="28575">
            <a:solidFill>
              <a:srgbClr val="FFFFF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3"/>
          <p:cNvSpPr/>
          <p:nvPr/>
        </p:nvSpPr>
        <p:spPr>
          <a:xfrm>
            <a:off x="406260" y="4752208"/>
            <a:ext cx="365021" cy="365021"/>
          </a:xfrm>
          <a:prstGeom prst="ellipse">
            <a:avLst/>
          </a:prstGeom>
          <a:solidFill>
            <a:schemeClr val="accent6">
              <a:alpha val="29803"/>
            </a:schemeClr>
          </a:solidFill>
          <a:ln cap="flat" cmpd="sng" w="28575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14" name="Google Shape;114;p3"/>
          <p:cNvGrpSpPr/>
          <p:nvPr/>
        </p:nvGrpSpPr>
        <p:grpSpPr>
          <a:xfrm>
            <a:off x="4109667" y="5539935"/>
            <a:ext cx="975169" cy="975171"/>
            <a:chOff x="5829300" y="3162300"/>
            <a:chExt cx="532256" cy="532257"/>
          </a:xfrm>
        </p:grpSpPr>
        <p:sp>
          <p:nvSpPr>
            <p:cNvPr id="115" name="Google Shape;115;p3"/>
            <p:cNvSpPr/>
            <p:nvPr/>
          </p:nvSpPr>
          <p:spPr>
            <a:xfrm>
              <a:off x="5859208" y="3192208"/>
              <a:ext cx="112966" cy="112966"/>
            </a:xfrm>
            <a:custGeom>
              <a:rect b="b" l="l" r="r" t="t"/>
              <a:pathLst>
                <a:path extrusionOk="0" h="112966" w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6" name="Google Shape;116;p3"/>
            <p:cNvSpPr/>
            <p:nvPr/>
          </p:nvSpPr>
          <p:spPr>
            <a:xfrm>
              <a:off x="5831205" y="3164205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7" name="Google Shape;117;p3"/>
            <p:cNvSpPr/>
            <p:nvPr/>
          </p:nvSpPr>
          <p:spPr>
            <a:xfrm>
              <a:off x="5829300" y="3162300"/>
              <a:ext cx="294131" cy="294131"/>
            </a:xfrm>
            <a:custGeom>
              <a:rect b="b" l="l" r="r" t="t"/>
              <a:pathLst>
                <a:path extrusionOk="0" h="294131" w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8" name="Google Shape;118;p3"/>
            <p:cNvSpPr/>
            <p:nvPr/>
          </p:nvSpPr>
          <p:spPr>
            <a:xfrm>
              <a:off x="5837205" y="3170110"/>
              <a:ext cx="337184" cy="337280"/>
            </a:xfrm>
            <a:custGeom>
              <a:rect b="b" l="l" r="r" t="t"/>
              <a:pathLst>
                <a:path extrusionOk="0" h="337280" w="337184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19" name="Google Shape;119;p3"/>
            <p:cNvSpPr/>
            <p:nvPr/>
          </p:nvSpPr>
          <p:spPr>
            <a:xfrm>
              <a:off x="5853207" y="3186207"/>
              <a:ext cx="364617" cy="364617"/>
            </a:xfrm>
            <a:custGeom>
              <a:rect b="b" l="l" r="r" t="t"/>
              <a:pathLst>
                <a:path extrusionOk="0" h="364617" w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0" name="Google Shape;120;p3"/>
            <p:cNvSpPr/>
            <p:nvPr/>
          </p:nvSpPr>
          <p:spPr>
            <a:xfrm>
              <a:off x="5875305" y="3208305"/>
              <a:ext cx="380238" cy="380238"/>
            </a:xfrm>
            <a:custGeom>
              <a:rect b="b" l="l" r="r" t="t"/>
              <a:pathLst>
                <a:path extrusionOk="0" h="380238" w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3"/>
            <p:cNvSpPr/>
            <p:nvPr/>
          </p:nvSpPr>
          <p:spPr>
            <a:xfrm>
              <a:off x="5902832" y="3235832"/>
              <a:ext cx="385191" cy="385191"/>
            </a:xfrm>
            <a:custGeom>
              <a:rect b="b" l="l" r="r" t="t"/>
              <a:pathLst>
                <a:path extrusionOk="0" h="385191" w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2" name="Google Shape;122;p3"/>
            <p:cNvSpPr/>
            <p:nvPr/>
          </p:nvSpPr>
          <p:spPr>
            <a:xfrm>
              <a:off x="5935789" y="3268313"/>
              <a:ext cx="379761" cy="380237"/>
            </a:xfrm>
            <a:custGeom>
              <a:rect b="b" l="l" r="r" t="t"/>
              <a:pathLst>
                <a:path extrusionOk="0" h="380237" w="379761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3" name="Google Shape;123;p3"/>
            <p:cNvSpPr/>
            <p:nvPr/>
          </p:nvSpPr>
          <p:spPr>
            <a:xfrm>
              <a:off x="5972841" y="3305841"/>
              <a:ext cx="364807" cy="364807"/>
            </a:xfrm>
            <a:custGeom>
              <a:rect b="b" l="l" r="r" t="t"/>
              <a:pathLst>
                <a:path extrusionOk="0" h="364807" w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3"/>
            <p:cNvSpPr/>
            <p:nvPr/>
          </p:nvSpPr>
          <p:spPr>
            <a:xfrm>
              <a:off x="6016370" y="3349466"/>
              <a:ext cx="337280" cy="337280"/>
            </a:xfrm>
            <a:custGeom>
              <a:rect b="b" l="l" r="r" t="t"/>
              <a:pathLst>
                <a:path extrusionOk="0" h="337280" w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5" name="Google Shape;125;p3"/>
            <p:cNvSpPr/>
            <p:nvPr/>
          </p:nvSpPr>
          <p:spPr>
            <a:xfrm>
              <a:off x="6067329" y="3400425"/>
              <a:ext cx="294227" cy="294132"/>
            </a:xfrm>
            <a:custGeom>
              <a:rect b="b" l="l" r="r" t="t"/>
              <a:pathLst>
                <a:path extrusionOk="0" h="294132" w="294227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6" name="Google Shape;126;p3"/>
            <p:cNvSpPr/>
            <p:nvPr/>
          </p:nvSpPr>
          <p:spPr>
            <a:xfrm>
              <a:off x="6129337" y="3462337"/>
              <a:ext cx="230314" cy="230314"/>
            </a:xfrm>
            <a:custGeom>
              <a:rect b="b" l="l" r="r" t="t"/>
              <a:pathLst>
                <a:path extrusionOk="0" h="230314" w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7" name="Google Shape;127;p3"/>
            <p:cNvSpPr/>
            <p:nvPr/>
          </p:nvSpPr>
          <p:spPr>
            <a:xfrm>
              <a:off x="6218682" y="3551682"/>
              <a:ext cx="112871" cy="112871"/>
            </a:xfrm>
            <a:custGeom>
              <a:rect b="b" l="l" r="r" t="t"/>
              <a:pathLst>
                <a:path extrusionOk="0" h="112871" w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8" name="Google Shape;128;p3"/>
          <p:cNvSpPr/>
          <p:nvPr/>
        </p:nvSpPr>
        <p:spPr>
          <a:xfrm>
            <a:off x="5484139" y="477540"/>
            <a:ext cx="6301601" cy="756192"/>
          </a:xfrm>
          <a:prstGeom prst="roundRect">
            <a:avLst>
              <a:gd fmla="val 16667" name="adj"/>
            </a:avLst>
          </a:prstGeom>
          <a:solidFill>
            <a:schemeClr val="accent2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Process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The work is aligned with Charter objectives, such as "speed and increase diagnosis accuracy", by looking at Synthea’s conditions.csv and encounters.csv.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3"/>
          <p:cNvSpPr/>
          <p:nvPr/>
        </p:nvSpPr>
        <p:spPr>
          <a:xfrm>
            <a:off x="5484139" y="1347160"/>
            <a:ext cx="6301601" cy="756192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 Limited real-world data; relied on Synthea’s synthetic data (</a:t>
            </a: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Charter’s Constraint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).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3"/>
          <p:cNvSpPr/>
          <p:nvPr/>
        </p:nvSpPr>
        <p:spPr>
          <a:xfrm>
            <a:off x="5484139" y="2216780"/>
            <a:ext cx="6301601" cy="756192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 cap="flat" cmpd="sng" w="12700">
            <a:solidFill>
              <a:schemeClr val="l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Course Help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i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Database Systems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(SQL for patient-diagnosis mapping) and </a:t>
            </a:r>
            <a:r>
              <a:rPr i="1"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Project Management</a:t>
            </a:r>
            <a:r>
              <a:rPr lang="en-IN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 (milestone tracking per Charter’s timeline).</a:t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4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E75B5"/>
              </a:gs>
            </a:gsLst>
            <a:lin ang="8400000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 flipH="1" rot="10800000">
            <a:off x="8128857" y="0"/>
            <a:ext cx="4063143" cy="1576412"/>
          </a:xfrm>
          <a:prstGeom prst="rect">
            <a:avLst/>
          </a:prstGeom>
          <a:gradFill>
            <a:gsLst>
              <a:gs pos="0">
                <a:srgbClr val="1E4E79">
                  <a:alpha val="67843"/>
                </a:srgbClr>
              </a:gs>
              <a:gs pos="19000">
                <a:srgbClr val="1E4E79">
                  <a:alpha val="67843"/>
                </a:srgbClr>
              </a:gs>
              <a:gs pos="100000">
                <a:srgbClr val="5B9BD5">
                  <a:alpha val="7882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8" name="Google Shape;138;p4"/>
          <p:cNvSpPr/>
          <p:nvPr/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0">
                <a:srgbClr val="5B9BD5">
                  <a:alpha val="0"/>
                </a:srgbClr>
              </a:gs>
              <a:gs pos="23000">
                <a:srgbClr val="5B9BD5">
                  <a:alpha val="0"/>
                </a:srgbClr>
              </a:gs>
              <a:gs pos="99000">
                <a:srgbClr val="000000">
                  <a:alpha val="73725"/>
                </a:srgbClr>
              </a:gs>
              <a:gs pos="100000">
                <a:srgbClr val="000000">
                  <a:alpha val="73725"/>
                </a:srgbClr>
              </a:gs>
            </a:gsLst>
            <a:lin ang="203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9" name="Google Shape;139;p4"/>
          <p:cNvSpPr txBox="1"/>
          <p:nvPr>
            <p:ph type="title"/>
          </p:nvPr>
        </p:nvSpPr>
        <p:spPr>
          <a:xfrm>
            <a:off x="1371597" y="348865"/>
            <a:ext cx="10044023" cy="877729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Data Validation and Preparation 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140" name="Google Shape;140;p4"/>
          <p:cNvSpPr/>
          <p:nvPr/>
        </p:nvSpPr>
        <p:spPr>
          <a:xfrm>
            <a:off x="644056" y="2112579"/>
            <a:ext cx="10927829" cy="419280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Challenge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This includes missing STOP dates in careplans.csv and domain budget constraints (Charter: $150K–$200K limit).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Solution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Automated validation with Python scripts (Pandas) and reused Synthea data to avoid costs.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Course Help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 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Data Preprocessing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(handling nulls) and </a:t>
            </a:r>
            <a:r>
              <a:rPr b="0" i="1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Software Engineering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 (modular code).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5"/>
          <p:cNvSpPr txBox="1"/>
          <p:nvPr>
            <p:ph type="title"/>
          </p:nvPr>
        </p:nvSpPr>
        <p:spPr>
          <a:xfrm>
            <a:off x="838200" y="459863"/>
            <a:ext cx="10515600" cy="10045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400"/>
              <a:buFont typeface="Calibri"/>
              <a:buNone/>
            </a:pPr>
            <a:r>
              <a:rPr b="1" lang="en-IN">
                <a:solidFill>
                  <a:srgbClr val="FFFFFF"/>
                </a:solidFill>
              </a:rPr>
              <a:t>Design of User Interface </a:t>
            </a:r>
            <a:endParaRPr>
              <a:solidFill>
                <a:srgbClr val="FFFFFF"/>
              </a:solidFill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579496" y="1587970"/>
            <a:ext cx="11033008" cy="4768380"/>
          </a:xfrm>
          <a:prstGeom prst="roundRect">
            <a:avLst>
              <a:gd fmla="val 3174" name="adj"/>
            </a:avLst>
          </a:prstGeom>
          <a:solidFill>
            <a:schemeClr val="lt1">
              <a:alpha val="94901"/>
            </a:schemeClr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48" name="Google Shape;148;p5"/>
          <p:cNvGrpSpPr/>
          <p:nvPr/>
        </p:nvGrpSpPr>
        <p:grpSpPr>
          <a:xfrm>
            <a:off x="2181000" y="2176579"/>
            <a:ext cx="7830000" cy="3600001"/>
            <a:chOff x="1342800" y="375668"/>
            <a:chExt cx="7830000" cy="3600001"/>
          </a:xfrm>
        </p:grpSpPr>
        <p:sp>
          <p:nvSpPr>
            <p:cNvPr id="149" name="Google Shape;149;p5"/>
            <p:cNvSpPr/>
            <p:nvPr/>
          </p:nvSpPr>
          <p:spPr>
            <a:xfrm>
              <a:off x="2044800" y="375668"/>
              <a:ext cx="2196000" cy="2196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5"/>
            <p:cNvSpPr/>
            <p:nvPr/>
          </p:nvSpPr>
          <p:spPr>
            <a:xfrm>
              <a:off x="2512800" y="843669"/>
              <a:ext cx="1260000" cy="1260000"/>
            </a:xfrm>
            <a:prstGeom prst="rect">
              <a:avLst/>
            </a:prstGeom>
            <a:blipFill rotWithShape="1">
              <a:blip r:embed="rId3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" name="Google Shape;151;p5"/>
            <p:cNvSpPr/>
            <p:nvPr/>
          </p:nvSpPr>
          <p:spPr>
            <a:xfrm>
              <a:off x="1342800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" name="Google Shape;152;p5"/>
            <p:cNvSpPr txBox="1"/>
            <p:nvPr/>
          </p:nvSpPr>
          <p:spPr>
            <a:xfrm>
              <a:off x="1342800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CHALLENGE</a:t>
              </a:r>
              <a:r>
                <a:rPr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MULTILINGUAL UI REQUIREMENT (</a:t>
              </a:r>
              <a:r>
                <a:rPr b="1"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CHARTER’S IN-SCOPE</a:t>
              </a:r>
              <a:r>
                <a:rPr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 WITH TIGHT BETA-TESTING DEADLINE (03/24/25 PER </a:t>
              </a:r>
              <a:r>
                <a:rPr b="1"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MILESTONES</a:t>
              </a:r>
              <a:r>
                <a:rPr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6274800" y="375668"/>
              <a:ext cx="2196000" cy="2196000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6742800" y="843669"/>
              <a:ext cx="1260000" cy="1260000"/>
            </a:xfrm>
            <a:prstGeom prst="rect">
              <a:avLst/>
            </a:prstGeom>
            <a:blipFill rotWithShape="1">
              <a:blip r:embed="rId4">
                <a:alphaModFix/>
              </a:blip>
              <a:stretch>
                <a:fillRect b="0" l="0" r="0" t="0"/>
              </a:stretch>
            </a:blip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5572800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" name="Google Shape;156;p5"/>
            <p:cNvSpPr txBox="1"/>
            <p:nvPr/>
          </p:nvSpPr>
          <p:spPr>
            <a:xfrm>
              <a:off x="5572800" y="3255669"/>
              <a:ext cx="3600000" cy="720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0" lIns="0" spcFirstLastPara="1" rIns="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SOLUTION</a:t>
              </a:r>
              <a:r>
                <a:rPr lang="en-IN" sz="1300" cap="non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rPr>
                <a:t>: A BLEND OF MODULAR TEMPLATE WITH HUMAN COMPUTER INTERACTION COURSE CONCEPTS WAS DEMONSTRATED THROUGH FLASK.</a:t>
              </a:r>
              <a:endParaRPr sz="13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6"/>
          <p:cNvPicPr preferRelativeResize="0"/>
          <p:nvPr/>
        </p:nvPicPr>
        <p:blipFill rotWithShape="1">
          <a:blip r:embed="rId3">
            <a:alphaModFix/>
          </a:blip>
          <a:srcRect b="7" l="0" r="11386" t="9090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6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6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Final Reflection – Project Process </a:t>
            </a:r>
            <a:endParaRPr/>
          </a:p>
        </p:txBody>
      </p:sp>
      <p:grpSp>
        <p:nvGrpSpPr>
          <p:cNvPr id="164" name="Google Shape;164;p6"/>
          <p:cNvGrpSpPr/>
          <p:nvPr/>
        </p:nvGrpSpPr>
        <p:grpSpPr>
          <a:xfrm>
            <a:off x="4232233" y="1826899"/>
            <a:ext cx="3727532" cy="4348788"/>
            <a:chOff x="3394033" y="1274"/>
            <a:chExt cx="3727532" cy="4348788"/>
          </a:xfrm>
        </p:grpSpPr>
        <p:sp>
          <p:nvSpPr>
            <p:cNvPr id="165" name="Google Shape;165;p6"/>
            <p:cNvSpPr/>
            <p:nvPr/>
          </p:nvSpPr>
          <p:spPr>
            <a:xfrm>
              <a:off x="3394033" y="1787384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" name="Google Shape;166;p6"/>
            <p:cNvSpPr txBox="1"/>
            <p:nvPr/>
          </p:nvSpPr>
          <p:spPr>
            <a:xfrm>
              <a:off x="3416778" y="1810129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Team Roles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7" name="Google Shape;167;p6"/>
            <p:cNvSpPr/>
            <p:nvPr/>
          </p:nvSpPr>
          <p:spPr>
            <a:xfrm rot="-4249260">
              <a:off x="4312265" y="1266552"/>
              <a:ext cx="1891069" cy="32124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" name="Google Shape;168;p6"/>
            <p:cNvSpPr txBox="1"/>
            <p:nvPr/>
          </p:nvSpPr>
          <p:spPr>
            <a:xfrm rot="-4249260">
              <a:off x="5210523" y="1235337"/>
              <a:ext cx="94553" cy="94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69" name="Google Shape;169;p6"/>
            <p:cNvSpPr/>
            <p:nvPr/>
          </p:nvSpPr>
          <p:spPr>
            <a:xfrm>
              <a:off x="5568427" y="1274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" name="Google Shape;170;p6"/>
            <p:cNvSpPr txBox="1"/>
            <p:nvPr/>
          </p:nvSpPr>
          <p:spPr>
            <a:xfrm>
              <a:off x="5591172" y="24019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Manager (Rupesh Bura)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Oversaw milestones (per Charter).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1" name="Google Shape;171;p6"/>
            <p:cNvSpPr/>
            <p:nvPr/>
          </p:nvSpPr>
          <p:spPr>
            <a:xfrm rot="-3310531">
              <a:off x="4713854" y="1713079"/>
              <a:ext cx="1087890" cy="32124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" name="Google Shape;172;p6"/>
            <p:cNvSpPr txBox="1"/>
            <p:nvPr/>
          </p:nvSpPr>
          <p:spPr>
            <a:xfrm rot="-3310531">
              <a:off x="5230602" y="1701944"/>
              <a:ext cx="54394" cy="54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3" name="Google Shape;173;p6"/>
            <p:cNvSpPr/>
            <p:nvPr/>
          </p:nvSpPr>
          <p:spPr>
            <a:xfrm>
              <a:off x="5568427" y="894329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" name="Google Shape;174;p6"/>
            <p:cNvSpPr txBox="1"/>
            <p:nvPr/>
          </p:nvSpPr>
          <p:spPr>
            <a:xfrm>
              <a:off x="5591172" y="917074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Data Analyst (Sai Pavan)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Validated data integrity.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5" name="Google Shape;175;p6"/>
            <p:cNvSpPr/>
            <p:nvPr/>
          </p:nvSpPr>
          <p:spPr>
            <a:xfrm>
              <a:off x="4947172" y="2159606"/>
              <a:ext cx="621255" cy="32124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" name="Google Shape;176;p6"/>
            <p:cNvSpPr txBox="1"/>
            <p:nvPr/>
          </p:nvSpPr>
          <p:spPr>
            <a:xfrm>
              <a:off x="5242268" y="2160137"/>
              <a:ext cx="31062" cy="31062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7" name="Google Shape;177;p6"/>
            <p:cNvSpPr/>
            <p:nvPr/>
          </p:nvSpPr>
          <p:spPr>
            <a:xfrm>
              <a:off x="5568427" y="1787384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6"/>
            <p:cNvSpPr txBox="1"/>
            <p:nvPr/>
          </p:nvSpPr>
          <p:spPr>
            <a:xfrm>
              <a:off x="5591172" y="1810129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SME (Lokesh Mannem)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Aligned Synthea modules with AI outputs (</a:t>
              </a: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Charter’s Traceability Matrix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79" name="Google Shape;179;p6"/>
            <p:cNvSpPr/>
            <p:nvPr/>
          </p:nvSpPr>
          <p:spPr>
            <a:xfrm rot="3310531">
              <a:off x="4713854" y="2606134"/>
              <a:ext cx="1087890" cy="32124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" name="Google Shape;180;p6"/>
            <p:cNvSpPr txBox="1"/>
            <p:nvPr/>
          </p:nvSpPr>
          <p:spPr>
            <a:xfrm rot="3310531">
              <a:off x="5230602" y="2594999"/>
              <a:ext cx="54394" cy="5439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5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1" name="Google Shape;181;p6"/>
            <p:cNvSpPr/>
            <p:nvPr/>
          </p:nvSpPr>
          <p:spPr>
            <a:xfrm>
              <a:off x="5568427" y="2680439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" name="Google Shape;182;p6"/>
            <p:cNvSpPr txBox="1"/>
            <p:nvPr/>
          </p:nvSpPr>
          <p:spPr>
            <a:xfrm>
              <a:off x="5591172" y="2703184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SME - Healthcare Workflows (Vydhurya Maheshwaram):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Ensured clinical relevance of diagnostic suggestions.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3" name="Google Shape;183;p6"/>
            <p:cNvSpPr/>
            <p:nvPr/>
          </p:nvSpPr>
          <p:spPr>
            <a:xfrm rot="4249260">
              <a:off x="4312265" y="3052661"/>
              <a:ext cx="1891069" cy="32124"/>
            </a:xfrm>
            <a:custGeom>
              <a:rect b="b" l="l" r="r" t="t"/>
              <a:pathLst>
                <a:path extrusionOk="0" h="120000" w="120000">
                  <a:moveTo>
                    <a:pt x="0" y="60000"/>
                  </a:moveTo>
                  <a:lnTo>
                    <a:pt x="120000" y="60000"/>
                  </a:lnTo>
                </a:path>
              </a:pathLst>
            </a:custGeom>
            <a:noFill/>
            <a:ln cap="flat" cmpd="sng" w="9525">
              <a:solidFill>
                <a:schemeClr val="accent6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" name="Google Shape;184;p6"/>
            <p:cNvSpPr txBox="1"/>
            <p:nvPr/>
          </p:nvSpPr>
          <p:spPr>
            <a:xfrm rot="4249260">
              <a:off x="5210523" y="3021447"/>
              <a:ext cx="94553" cy="9455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0" lIns="12700" spcFirstLastPara="1" rIns="12700" wrap="square" tIns="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6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5" name="Google Shape;185;p6"/>
            <p:cNvSpPr/>
            <p:nvPr/>
          </p:nvSpPr>
          <p:spPr>
            <a:xfrm>
              <a:off x="5568427" y="3573493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7FB75F"/>
                </a:gs>
                <a:gs pos="50000">
                  <a:srgbClr val="6EB141"/>
                </a:gs>
                <a:gs pos="100000">
                  <a:srgbClr val="5FA134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" name="Google Shape;186;p6"/>
            <p:cNvSpPr txBox="1"/>
            <p:nvPr/>
          </p:nvSpPr>
          <p:spPr>
            <a:xfrm>
              <a:off x="5591172" y="3596238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Customer Relations (Sydulu Vemula):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Bridged gap between technical team and end-user needs.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87" name="Google Shape;187;p6"/>
            <p:cNvSpPr/>
            <p:nvPr/>
          </p:nvSpPr>
          <p:spPr>
            <a:xfrm>
              <a:off x="3394033" y="2680439"/>
              <a:ext cx="1553138" cy="776569"/>
            </a:xfrm>
            <a:prstGeom prst="roundRect">
              <a:avLst>
                <a:gd fmla="val 10000" name="adj"/>
              </a:avLst>
            </a:prstGeom>
            <a:gradFill>
              <a:gsLst>
                <a:gs pos="0">
                  <a:srgbClr val="FFC647"/>
                </a:gs>
                <a:gs pos="50000">
                  <a:srgbClr val="FFC600"/>
                </a:gs>
                <a:gs pos="100000">
                  <a:srgbClr val="E3B400"/>
                </a:gs>
              </a:gsLst>
              <a:lin ang="54000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" name="Google Shape;188;p6"/>
            <p:cNvSpPr txBox="1"/>
            <p:nvPr/>
          </p:nvSpPr>
          <p:spPr>
            <a:xfrm>
              <a:off x="3416778" y="2703184"/>
              <a:ext cx="1507648" cy="73107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350" lIns="6350" spcFirstLastPara="1" rIns="6350" wrap="square" tIns="6350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Lessons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Underestimated data cleaning effort; adjusted timelines iteratively (</a:t>
              </a:r>
              <a:r>
                <a:rPr b="1"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Charter’s Risk: Model Accuracy</a:t>
              </a:r>
              <a:r>
                <a:rPr lang="en-IN" sz="10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).</a:t>
              </a:r>
              <a:endParaRPr sz="10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3" name="Google Shape;193;p7"/>
          <p:cNvPicPr preferRelativeResize="0"/>
          <p:nvPr/>
        </p:nvPicPr>
        <p:blipFill rotWithShape="1">
          <a:blip r:embed="rId3">
            <a:alphaModFix/>
          </a:blip>
          <a:srcRect b="3480" l="0" r="9084" t="19736"/>
          <a:stretch/>
        </p:blipFill>
        <p:spPr>
          <a:xfrm>
            <a:off x="20" y="10"/>
            <a:ext cx="12191980" cy="6857990"/>
          </a:xfrm>
          <a:prstGeom prst="rect">
            <a:avLst/>
          </a:prstGeom>
          <a:noFill/>
          <a:ln>
            <a:noFill/>
          </a:ln>
        </p:spPr>
      </p:pic>
      <p:sp>
        <p:nvSpPr>
          <p:cNvPr id="194" name="Google Shape;194;p7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0">
                <a:srgbClr val="E7E6E6">
                  <a:alpha val="67843"/>
                </a:srgbClr>
              </a:gs>
              <a:gs pos="10000">
                <a:srgbClr val="E7E6E6">
                  <a:alpha val="67843"/>
                </a:srgbClr>
              </a:gs>
              <a:gs pos="85000">
                <a:srgbClr val="E7E6E6">
                  <a:alpha val="96862"/>
                </a:srgbClr>
              </a:gs>
              <a:gs pos="100000">
                <a:srgbClr val="E7E6E6">
                  <a:alpha val="96862"/>
                </a:srgbClr>
              </a:gs>
            </a:gsLst>
            <a:path path="circle">
              <a:fillToRect b="50%" l="50%" r="50%" t="50%"/>
            </a:path>
            <a:tileRect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</a:pPr>
            <a:r>
              <a:rPr b="1" lang="en-IN"/>
              <a:t>Final Reflection – Learning &amp; Self-Efficacy </a:t>
            </a:r>
            <a:endParaRPr/>
          </a:p>
        </p:txBody>
      </p:sp>
      <p:grpSp>
        <p:nvGrpSpPr>
          <p:cNvPr id="196" name="Google Shape;196;p7"/>
          <p:cNvGrpSpPr/>
          <p:nvPr/>
        </p:nvGrpSpPr>
        <p:grpSpPr>
          <a:xfrm>
            <a:off x="847442" y="2896334"/>
            <a:ext cx="10497115" cy="2209919"/>
            <a:chOff x="9242" y="1070709"/>
            <a:chExt cx="10497115" cy="2209919"/>
          </a:xfrm>
        </p:grpSpPr>
        <p:sp>
          <p:nvSpPr>
            <p:cNvPr id="197" name="Google Shape;197;p7"/>
            <p:cNvSpPr/>
            <p:nvPr/>
          </p:nvSpPr>
          <p:spPr>
            <a:xfrm>
              <a:off x="9242" y="1070709"/>
              <a:ext cx="5524797" cy="2209919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rgbClr val="F08B54"/>
                </a:gs>
                <a:gs pos="50000">
                  <a:srgbClr val="F67A26"/>
                </a:gs>
                <a:gs pos="100000">
                  <a:srgbClr val="E36A18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" name="Google Shape;198;p7"/>
            <p:cNvSpPr txBox="1"/>
            <p:nvPr/>
          </p:nvSpPr>
          <p:spPr>
            <a:xfrm>
              <a:off x="1114202" y="1070709"/>
              <a:ext cx="3314878" cy="220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25" lIns="100000" spcFirstLastPara="1" rIns="33325" wrap="square" tIns="3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New Knowledge</a:t>
              </a:r>
              <a:r>
                <a:rPr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Synthea’s FHIR standards (</a:t>
              </a:r>
              <a:r>
                <a:rPr b="1"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Charter’s Data Source</a:t>
              </a:r>
              <a:r>
                <a:rPr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and Agile workflows (</a:t>
              </a:r>
              <a:r>
                <a:rPr i="1"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Project Management</a:t>
              </a:r>
              <a:r>
                <a:rPr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 course).</a:t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99" name="Google Shape;199;p7"/>
            <p:cNvSpPr/>
            <p:nvPr/>
          </p:nvSpPr>
          <p:spPr>
            <a:xfrm>
              <a:off x="4981560" y="1070709"/>
              <a:ext cx="5524797" cy="2209919"/>
            </a:xfrm>
            <a:prstGeom prst="chevron">
              <a:avLst>
                <a:gd fmla="val 50000" name="adj"/>
              </a:avLst>
            </a:prstGeom>
            <a:gradFill>
              <a:gsLst>
                <a:gs pos="0">
                  <a:srgbClr val="AEAEAE"/>
                </a:gs>
                <a:gs pos="50000">
                  <a:srgbClr val="A4A4A4"/>
                </a:gs>
                <a:gs pos="100000">
                  <a:srgbClr val="909090"/>
                </a:gs>
              </a:gsLst>
              <a:lin ang="5400000" scaled="0"/>
            </a:gradFill>
            <a:ln>
              <a:noFill/>
            </a:ln>
            <a:effectLst>
              <a:outerShdw blurRad="57150" rotWithShape="0" algn="ctr" dir="5400000" dist="19050">
                <a:srgbClr val="000000">
                  <a:alpha val="62745"/>
                </a:srgbClr>
              </a:outerShdw>
            </a:effectLst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" name="Google Shape;200;p7"/>
            <p:cNvSpPr txBox="1"/>
            <p:nvPr/>
          </p:nvSpPr>
          <p:spPr>
            <a:xfrm>
              <a:off x="6086520" y="1070709"/>
              <a:ext cx="3314878" cy="220991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33325" lIns="100000" spcFirstLastPara="1" rIns="33325" wrap="square" tIns="3332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Team Growth</a:t>
              </a:r>
              <a:r>
                <a:rPr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: Used weekly syncs (</a:t>
              </a:r>
              <a:r>
                <a:rPr b="1"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Charter’s Communication Strategy</a:t>
              </a:r>
              <a:r>
                <a:rPr lang="en-IN" sz="2500">
                  <a:solidFill>
                    <a:schemeClr val="lt1"/>
                  </a:solidFill>
                  <a:latin typeface="Calibri"/>
                  <a:ea typeface="Calibri"/>
                  <a:cs typeface="Calibri"/>
                  <a:sym typeface="Calibri"/>
                </a:rPr>
                <a:t>) to renegotiate tasks.</a:t>
              </a:r>
              <a:endParaRPr sz="25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8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8"/>
          <p:cNvSpPr/>
          <p:nvPr/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5686"/>
                </a:srgbClr>
              </a:gs>
              <a:gs pos="100000">
                <a:srgbClr val="2E75B5"/>
              </a:gs>
            </a:gsLst>
            <a:lin ang="197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8"/>
          <p:cNvSpPr/>
          <p:nvPr/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0">
                <a:srgbClr val="1E4E79">
                  <a:alpha val="67843"/>
                </a:srgbClr>
              </a:gs>
              <a:gs pos="19000">
                <a:srgbClr val="1E4E79">
                  <a:alpha val="67843"/>
                </a:srgbClr>
              </a:gs>
              <a:gs pos="100000">
                <a:srgbClr val="5B9BD5">
                  <a:alpha val="47843"/>
                </a:srgbClr>
              </a:gs>
            </a:gsLst>
            <a:lin ang="19199999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8"/>
          <p:cNvSpPr/>
          <p:nvPr/>
        </p:nvSpPr>
        <p:spPr>
          <a:xfrm flipH="1" rot="-5400000">
            <a:off x="5010646" y="-5010043"/>
            <a:ext cx="2170709" cy="12192000"/>
          </a:xfrm>
          <a:prstGeom prst="rect">
            <a:avLst/>
          </a:prstGeom>
          <a:gradFill>
            <a:gsLst>
              <a:gs pos="0">
                <a:srgbClr val="2E75B5">
                  <a:alpha val="15686"/>
                </a:srgbClr>
              </a:gs>
              <a:gs pos="23000">
                <a:srgbClr val="2E75B5">
                  <a:alpha val="15686"/>
                </a:srgbClr>
              </a:gs>
              <a:gs pos="99000">
                <a:srgbClr val="000000">
                  <a:alpha val="44705"/>
                </a:srgbClr>
              </a:gs>
              <a:gs pos="100000">
                <a:srgbClr val="000000">
                  <a:alpha val="44705"/>
                </a:srgbClr>
              </a:gs>
            </a:gsLst>
            <a:lin ang="21000001" scaled="0"/>
          </a:gra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8"/>
          <p:cNvSpPr txBox="1"/>
          <p:nvPr>
            <p:ph type="title"/>
          </p:nvPr>
        </p:nvSpPr>
        <p:spPr>
          <a:xfrm>
            <a:off x="1383564" y="348865"/>
            <a:ext cx="9718111" cy="157644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4000"/>
              <a:buFont typeface="Calibri"/>
              <a:buNone/>
            </a:pPr>
            <a:r>
              <a:rPr b="1" lang="en-IN" sz="4000">
                <a:solidFill>
                  <a:srgbClr val="FFFFFF"/>
                </a:solidFill>
              </a:rPr>
              <a:t>Future Applications </a:t>
            </a:r>
            <a:endParaRPr sz="4000">
              <a:solidFill>
                <a:srgbClr val="FFFFFF"/>
              </a:solidFill>
            </a:endParaRPr>
          </a:p>
        </p:txBody>
      </p:sp>
      <p:sp>
        <p:nvSpPr>
          <p:cNvPr id="210" name="Google Shape;210;p8"/>
          <p:cNvSpPr/>
          <p:nvPr/>
        </p:nvSpPr>
        <p:spPr>
          <a:xfrm>
            <a:off x="644056" y="2615979"/>
            <a:ext cx="10927829" cy="368940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  <a:path extrusionOk="0" fill="none" h="120000" w="120000">
                <a:moveTo>
                  <a:pt x="-10000" y="0"/>
                </a:moveTo>
                <a:close/>
                <a:lnTo>
                  <a:pt x="-10000" y="120000"/>
                </a:lnTo>
              </a:path>
              <a:path extrusionOk="0" fill="none" h="120000" w="120000">
                <a:moveTo>
                  <a:pt x="-10000" y="22500"/>
                </a:moveTo>
                <a:lnTo>
                  <a:pt x="-46000" y="135000"/>
                </a:lnTo>
              </a:path>
            </a:pathLst>
          </a:custGeom>
          <a:noFill/>
          <a:ln>
            <a:noFill/>
          </a:ln>
        </p:spPr>
        <p:txBody>
          <a:bodyPr anchorCtr="1" anchor="ctr" bIns="45700" lIns="91425" spcFirstLastPara="1" rIns="91425" wrap="square" tIns="45700">
            <a:noAutofit/>
          </a:bodyPr>
          <a:lstStyle/>
          <a:p>
            <a:pPr indent="-114300" lvl="1" marL="114300" marR="0" rtl="0" algn="l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Academic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Apply Charter’s traceability methods to research projects.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14300" lvl="1" marL="114300" marR="0" rtl="0" algn="l">
              <a:lnSpc>
                <a:spcPct val="75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Calibri"/>
              <a:buChar char="•"/>
            </a:pP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Professional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: Use budget constraints (</a:t>
            </a:r>
            <a:r>
              <a:rPr b="1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$150K–200K</a:t>
            </a:r>
            <a:r>
              <a:rPr b="0" i="0" lang="en-IN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) to guide resource allocation in future roles.</a:t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9"/>
          <p:cNvSpPr/>
          <p:nvPr/>
        </p:nvSpPr>
        <p:spPr>
          <a:xfrm>
            <a:off x="0" y="-1"/>
            <a:ext cx="12191695" cy="6852025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9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9"/>
          <p:cNvSpPr txBox="1"/>
          <p:nvPr>
            <p:ph type="title"/>
          </p:nvPr>
        </p:nvSpPr>
        <p:spPr>
          <a:xfrm>
            <a:off x="6590662" y="4267832"/>
            <a:ext cx="4805996" cy="129711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000"/>
              <a:buFont typeface="Calibri"/>
              <a:buNone/>
            </a:pPr>
            <a:r>
              <a:rPr lang="en-IN" sz="40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Thank you</a:t>
            </a:r>
            <a:endParaRPr/>
          </a:p>
        </p:txBody>
      </p:sp>
      <p:pic>
        <p:nvPicPr>
          <p:cNvPr descr="Smiling Face with No Fill" id="218" name="Google Shape;218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0470" y="1815320"/>
            <a:ext cx="4141760" cy="4141760"/>
          </a:xfrm>
          <a:custGeom>
            <a:rect b="b" l="l" r="r" t="t"/>
            <a:pathLst>
              <a:path extrusionOk="0" h="4377846" w="4141760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  <a:noFill/>
          <a:ln>
            <a:noFill/>
          </a:ln>
        </p:spPr>
      </p:pic>
      <p:grpSp>
        <p:nvGrpSpPr>
          <p:cNvPr id="219" name="Google Shape;219;p9"/>
          <p:cNvGrpSpPr/>
          <p:nvPr/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220" name="Google Shape;220;p9"/>
            <p:cNvSpPr/>
            <p:nvPr/>
          </p:nvSpPr>
          <p:spPr>
            <a:xfrm flipH="1">
              <a:off x="305" y="34854"/>
              <a:ext cx="6028697" cy="6817170"/>
            </a:xfrm>
            <a:custGeom>
              <a:rect b="b" l="l" r="r" t="t"/>
              <a:pathLst>
                <a:path extrusionOk="0" h="6817170" w="6028697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5B9BD5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1" name="Google Shape;221;p9"/>
            <p:cNvSpPr/>
            <p:nvPr/>
          </p:nvSpPr>
          <p:spPr>
            <a:xfrm flipH="1">
              <a:off x="305" y="1"/>
              <a:ext cx="6165116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5B9BD5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2" name="Google Shape;222;p9"/>
            <p:cNvSpPr/>
            <p:nvPr/>
          </p:nvSpPr>
          <p:spPr>
            <a:xfrm flipH="1">
              <a:off x="305" y="-5977"/>
              <a:ext cx="6238675" cy="6858001"/>
            </a:xfrm>
            <a:custGeom>
              <a:rect b="b" l="l" r="r" t="t"/>
              <a:pathLst>
                <a:path extrusionOk="0" h="6858001" w="6264586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0">
                  <a:srgbClr val="FFFFFF">
                    <a:alpha val="9803"/>
                  </a:srgbClr>
                </a:gs>
                <a:gs pos="2000">
                  <a:srgbClr val="FFFFFF">
                    <a:alpha val="9803"/>
                  </a:srgbClr>
                </a:gs>
                <a:gs pos="16000">
                  <a:srgbClr val="70AD47">
                    <a:alpha val="9803"/>
                  </a:srgbClr>
                </a:gs>
                <a:gs pos="85000">
                  <a:srgbClr val="5B9BD5">
                    <a:alpha val="9803"/>
                  </a:srgbClr>
                </a:gs>
                <a:gs pos="100000">
                  <a:srgbClr val="FFFFFF">
                    <a:alpha val="9803"/>
                  </a:srgbClr>
                </a:gs>
              </a:gsLst>
              <a:lin ang="12000000" scaled="0"/>
            </a:gra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2025-05-05T11:30:56Z</dcterms:created>
</cp:coreProperties>
</file>