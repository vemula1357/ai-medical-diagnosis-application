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" name="Google Shape;85;p13"/>
          <p:cNvGrpSpPr/>
          <p:nvPr/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86" name="Google Shape;86;p13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2941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3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89" name="Google Shape;89;p13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2941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3"/>
          <p:cNvSpPr txBox="1"/>
          <p:nvPr>
            <p:ph type="ctrTitle"/>
          </p:nvPr>
        </p:nvSpPr>
        <p:spPr>
          <a:xfrm>
            <a:off x="789708" y="666351"/>
            <a:ext cx="10558405" cy="30443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>
                <a:solidFill>
                  <a:schemeClr val="lt1"/>
                </a:solidFill>
              </a:rPr>
              <a:t>AI-Powered Healthcare Analytics: </a:t>
            </a:r>
            <a:br>
              <a:rPr lang="en-US" sz="4800">
                <a:solidFill>
                  <a:schemeClr val="lt1"/>
                </a:solidFill>
              </a:rPr>
            </a:br>
            <a:r>
              <a:rPr lang="en-US" sz="4800">
                <a:solidFill>
                  <a:schemeClr val="lt1"/>
                </a:solidFill>
              </a:rPr>
              <a:t>A Data-Driven Approach to Medical Diagnosis &amp; Decision Support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97" name="Google Shape;97;p13"/>
          <p:cNvSpPr txBox="1"/>
          <p:nvPr>
            <p:ph idx="1" type="subTitle"/>
          </p:nvPr>
        </p:nvSpPr>
        <p:spPr>
          <a:xfrm>
            <a:off x="789708" y="3866064"/>
            <a:ext cx="10558405" cy="223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655320" y="429030"/>
            <a:ext cx="2834640" cy="54575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Description of the Intended User</a:t>
            </a:r>
            <a:endParaRPr sz="4000"/>
          </a:p>
        </p:txBody>
      </p:sp>
      <p:sp>
        <p:nvSpPr>
          <p:cNvPr id="104" name="Google Shape;104;p14"/>
          <p:cNvSpPr/>
          <p:nvPr/>
        </p:nvSpPr>
        <p:spPr>
          <a:xfrm>
            <a:off x="655320" y="6112341"/>
            <a:ext cx="108356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 rot="5400000">
            <a:off x="2045208" y="4686084"/>
            <a:ext cx="54864" cy="2834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" name="Google Shape;106;p14"/>
          <p:cNvGrpSpPr/>
          <p:nvPr/>
        </p:nvGrpSpPr>
        <p:grpSpPr>
          <a:xfrm>
            <a:off x="5037974" y="429030"/>
            <a:ext cx="5459706" cy="5459706"/>
            <a:chOff x="996326" y="0"/>
            <a:chExt cx="5459706" cy="5459706"/>
          </a:xfrm>
        </p:grpSpPr>
        <p:sp>
          <p:nvSpPr>
            <p:cNvPr id="107" name="Google Shape;107;p14"/>
            <p:cNvSpPr/>
            <p:nvPr/>
          </p:nvSpPr>
          <p:spPr>
            <a:xfrm>
              <a:off x="996326" y="0"/>
              <a:ext cx="5459706" cy="5459706"/>
            </a:xfrm>
            <a:prstGeom prst="quadArrow">
              <a:avLst>
                <a:gd fmla="val 2000" name="adj1"/>
                <a:gd fmla="val 4000" name="adj2"/>
                <a:gd fmla="val 5000" name="adj3"/>
              </a:avLst>
            </a:prstGeom>
            <a:solidFill>
              <a:srgbClr val="F7D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1351207" y="354880"/>
              <a:ext cx="2183882" cy="2183882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1457815" y="461488"/>
              <a:ext cx="1970666" cy="1970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 targeted audience of the application are healthcare administrators and clinicians who require to analyze patient data, diagnose conditions and choosing better options for treatment.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3917269" y="354880"/>
              <a:ext cx="2183882" cy="2183882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4023877" y="461488"/>
              <a:ext cx="1970666" cy="1970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Within hospitals, users include chief medical officers, heads of departments (e.g., Chief Medical Officers), who act with data driven insights to control patient care and resource allocation.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1351207" y="2920942"/>
              <a:ext cx="2183882" cy="2183882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4"/>
            <p:cNvSpPr txBox="1"/>
            <p:nvPr/>
          </p:nvSpPr>
          <p:spPr>
            <a:xfrm>
              <a:off x="1457815" y="3027550"/>
              <a:ext cx="1970666" cy="1970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It is assumed that clinicians have medical expertise and that administrators can provide a contextual understanding of analytics to interpret accurately AI derived insights.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3917269" y="2920942"/>
              <a:ext cx="2183882" cy="2183882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4"/>
            <p:cNvSpPr txBox="1"/>
            <p:nvPr/>
          </p:nvSpPr>
          <p:spPr>
            <a:xfrm>
              <a:off x="4023877" y="3027550"/>
              <a:ext cx="1970666" cy="1970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 user hierarchy ranges from frontline doctors to management in the hospital to ensure focus on the organizational decision-making workflows.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>
            <p:ph type="title"/>
          </p:nvPr>
        </p:nvSpPr>
        <p:spPr>
          <a:xfrm>
            <a:off x="841248" y="256032"/>
            <a:ext cx="10506456" cy="10149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Decision-Making Needs of the User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 flipH="1" rot="10800000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" name="Google Shape;124;p15"/>
          <p:cNvGrpSpPr/>
          <p:nvPr/>
        </p:nvGrpSpPr>
        <p:grpSpPr>
          <a:xfrm>
            <a:off x="838200" y="1928074"/>
            <a:ext cx="10515600" cy="4353906"/>
            <a:chOff x="0" y="1808"/>
            <a:chExt cx="10515600" cy="4353906"/>
          </a:xfrm>
        </p:grpSpPr>
        <p:sp>
          <p:nvSpPr>
            <p:cNvPr id="125" name="Google Shape;125;p15"/>
            <p:cNvSpPr/>
            <p:nvPr/>
          </p:nvSpPr>
          <p:spPr>
            <a:xfrm>
              <a:off x="0" y="1808"/>
              <a:ext cx="10515600" cy="916611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277275" y="208046"/>
              <a:ext cx="504136" cy="50413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1058686" y="1808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5"/>
            <p:cNvSpPr txBox="1"/>
            <p:nvPr/>
          </p:nvSpPr>
          <p:spPr>
            <a:xfrm>
              <a:off x="1058686" y="1808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000" lIns="97000" spcFirstLastPara="1" rIns="97000" wrap="square" tIns="97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Bandits solve for users who are responsible to manage important areas such as diagnostic accuracy, treatment efficacy, and resource allocation across different medical conditions.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0" y="1147573"/>
              <a:ext cx="10515600" cy="916611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277275" y="1353811"/>
              <a:ext cx="504136" cy="50413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1058686" y="1147573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1058686" y="1147573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000" lIns="97000" spcFirstLastPara="1" rIns="97000" wrap="square" tIns="97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predictive diagnostic, treatment suggestions and visual analytics application to help streamline the clinical workflows.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0" y="2293338"/>
              <a:ext cx="10515600" cy="916611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277275" y="2499576"/>
              <a:ext cx="504136" cy="50413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1058686" y="2293338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5"/>
            <p:cNvSpPr txBox="1"/>
            <p:nvPr/>
          </p:nvSpPr>
          <p:spPr>
            <a:xfrm>
              <a:off x="1058686" y="2293338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000" lIns="97000" spcFirstLastPara="1" rIns="97000" wrap="square" tIns="97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stakeholder interviews were used to identify decision needs and gaps in current healthcare workflows.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0" y="3439103"/>
              <a:ext cx="10515600" cy="916611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277275" y="3645341"/>
              <a:ext cx="504136" cy="50413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1058686" y="3439103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5"/>
            <p:cNvSpPr txBox="1"/>
            <p:nvPr/>
          </p:nvSpPr>
          <p:spPr>
            <a:xfrm>
              <a:off x="1058686" y="3439103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000" lIns="97000" spcFirstLastPara="1" rIns="97000" wrap="square" tIns="97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Techniques that I learnt in Database Systems and Data Mining courses were used to resolve such challenges like data integration.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58209" y="260019"/>
            <a:ext cx="11167447" cy="59330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EDEDE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C5C2C2">
                <a:alpha val="4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title"/>
          </p:nvPr>
        </p:nvSpPr>
        <p:spPr>
          <a:xfrm>
            <a:off x="1115568" y="509521"/>
            <a:ext cx="10232136" cy="1014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Data Validation and Preparation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16"/>
          <p:cNvGrpSpPr/>
          <p:nvPr/>
        </p:nvGrpSpPr>
        <p:grpSpPr>
          <a:xfrm>
            <a:off x="1562957" y="2830954"/>
            <a:ext cx="9337357" cy="2019051"/>
            <a:chOff x="447389" y="1157602"/>
            <a:chExt cx="9337357" cy="2019051"/>
          </a:xfrm>
        </p:grpSpPr>
        <p:sp>
          <p:nvSpPr>
            <p:cNvPr id="150" name="Google Shape;150;p16"/>
            <p:cNvSpPr/>
            <p:nvPr/>
          </p:nvSpPr>
          <p:spPr>
            <a:xfrm>
              <a:off x="1014853" y="1157602"/>
              <a:ext cx="928576" cy="92857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447389" y="2389153"/>
              <a:ext cx="2063504" cy="7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447389" y="2389153"/>
              <a:ext cx="2063504" cy="7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key tables include Patients (demographics), using Symptoms and Diagnoses (conditions), and investigating Treatments (medications).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3439470" y="1157602"/>
              <a:ext cx="928576" cy="92857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2872007" y="2389153"/>
              <a:ext cx="2063504" cy="7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6"/>
            <p:cNvSpPr txBox="1"/>
            <p:nvPr/>
          </p:nvSpPr>
          <p:spPr>
            <a:xfrm>
              <a:off x="2872007" y="2389153"/>
              <a:ext cx="2063504" cy="7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Null values were checked, FHIR JSON consistency, and patient ID was cross referenced between tables.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5864088" y="1157602"/>
              <a:ext cx="928576" cy="92857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5296624" y="2389153"/>
              <a:ext cx="2063504" cy="7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6"/>
            <p:cNvSpPr txBox="1"/>
            <p:nvPr/>
          </p:nvSpPr>
          <p:spPr>
            <a:xfrm>
              <a:off x="5296624" y="2389153"/>
              <a:ext cx="2063504" cy="7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Label encoders were applied to encode symptoms and diagnostics into numerical values which are model compatible.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8288705" y="1157602"/>
              <a:ext cx="928576" cy="92857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7721242" y="2389153"/>
              <a:ext cx="2063504" cy="7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6"/>
            <p:cNvSpPr txBox="1"/>
            <p:nvPr/>
          </p:nvSpPr>
          <p:spPr>
            <a:xfrm>
              <a:off x="7721242" y="2389153"/>
              <a:ext cx="2063504" cy="7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quality is ensured for machine learning by transformations, as taught in Data Preprocessing module.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/>
          <p:cNvPicPr preferRelativeResize="0"/>
          <p:nvPr/>
        </p:nvPicPr>
        <p:blipFill rotWithShape="1">
          <a:blip r:embed="rId3">
            <a:alphaModFix/>
          </a:blip>
          <a:srcRect b="30740" l="0" r="9083" t="1073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7E6E6">
                  <a:alpha val="67450"/>
                </a:srgbClr>
              </a:gs>
              <a:gs pos="10000">
                <a:srgbClr val="E7E6E6">
                  <a:alpha val="67450"/>
                </a:srgbClr>
              </a:gs>
              <a:gs pos="85000">
                <a:srgbClr val="E7E6E6">
                  <a:alpha val="96470"/>
                </a:srgbClr>
              </a:gs>
              <a:gs pos="100000">
                <a:srgbClr val="E7E6E6">
                  <a:alpha val="9647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of User Interface</a:t>
            </a:r>
            <a:endParaRPr/>
          </a:p>
        </p:txBody>
      </p:sp>
      <p:grpSp>
        <p:nvGrpSpPr>
          <p:cNvPr id="169" name="Google Shape;169;p17"/>
          <p:cNvGrpSpPr/>
          <p:nvPr/>
        </p:nvGrpSpPr>
        <p:grpSpPr>
          <a:xfrm>
            <a:off x="4203192" y="1827749"/>
            <a:ext cx="3785616" cy="4347088"/>
            <a:chOff x="3364992" y="2124"/>
            <a:chExt cx="3785616" cy="4347088"/>
          </a:xfrm>
        </p:grpSpPr>
        <p:sp>
          <p:nvSpPr>
            <p:cNvPr id="170" name="Google Shape;170;p17"/>
            <p:cNvSpPr/>
            <p:nvPr/>
          </p:nvSpPr>
          <p:spPr>
            <a:xfrm>
              <a:off x="3364992" y="2124"/>
              <a:ext cx="3785616" cy="140228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3433446" y="70578"/>
              <a:ext cx="3648708" cy="12653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375" lIns="64750" spcFirstLastPara="1" rIns="64750" wrap="square" tIns="3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Dashboard: It shows graphs of aggregated patient statistics, trends (e.g. symptom prevalence), and interactive visualizations (e.g. histograms).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3364992" y="1474525"/>
              <a:ext cx="3785616" cy="140228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7"/>
            <p:cNvSpPr txBox="1"/>
            <p:nvPr/>
          </p:nvSpPr>
          <p:spPr>
            <a:xfrm>
              <a:off x="3433446" y="1542979"/>
              <a:ext cx="3648708" cy="12653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375" lIns="64750" spcFirstLastPara="1" rIns="64750" wrap="square" tIns="3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Interactions: It allows users to filter by date/patient group, hover for details and export reports for further analysis in another software.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3364992" y="2946926"/>
              <a:ext cx="3785616" cy="140228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7"/>
            <p:cNvSpPr txBox="1"/>
            <p:nvPr/>
          </p:nvSpPr>
          <p:spPr>
            <a:xfrm>
              <a:off x="3433446" y="3015380"/>
              <a:ext cx="3648708" cy="12653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375" lIns="64750" spcFirstLastPara="1" rIns="64750" wrap="square" tIns="3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Prediction Page: AI diagnoses clinicians’ symptoms based on input symptoms and returns the diagnoses with confidence scores as well as treatment options.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>
            <p:ph type="title"/>
          </p:nvPr>
        </p:nvSpPr>
        <p:spPr>
          <a:xfrm>
            <a:off x="659234" y="957447"/>
            <a:ext cx="3383280" cy="4943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Validation and Verification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 rot="5400000">
            <a:off x="938126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659234" y="6163056"/>
            <a:ext cx="338328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" name="Google Shape;184;p18"/>
          <p:cNvGrpSpPr/>
          <p:nvPr/>
        </p:nvGrpSpPr>
        <p:grpSpPr>
          <a:xfrm>
            <a:off x="4549514" y="624091"/>
            <a:ext cx="6807333" cy="5536664"/>
            <a:chOff x="0" y="2299"/>
            <a:chExt cx="6807333" cy="5536664"/>
          </a:xfrm>
        </p:grpSpPr>
        <p:sp>
          <p:nvSpPr>
            <p:cNvPr id="185" name="Google Shape;185;p18"/>
            <p:cNvSpPr/>
            <p:nvPr/>
          </p:nvSpPr>
          <p:spPr>
            <a:xfrm>
              <a:off x="0" y="2299"/>
              <a:ext cx="6807333" cy="1165613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352598" y="264562"/>
              <a:ext cx="641087" cy="64108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1346283" y="2299"/>
              <a:ext cx="5461049" cy="1165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1346283" y="2299"/>
              <a:ext cx="5461049" cy="1165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350" lIns="123350" spcFirstLastPara="1" rIns="123350" wrap="square" tIns="123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Their model accuracy (85%) was verified using AI predictions vs. Synthea data that was expertly validated.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0" y="1459316"/>
              <a:ext cx="6807333" cy="1165613"/>
            </a:xfrm>
            <a:prstGeom prst="roundRect">
              <a:avLst>
                <a:gd fmla="val 10000" name="adj"/>
              </a:avLst>
            </a:prstGeom>
            <a:solidFill>
              <a:srgbClr val="50C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352598" y="1721579"/>
              <a:ext cx="641087" cy="64108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1346283" y="1459316"/>
              <a:ext cx="5461049" cy="1165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1346283" y="1459316"/>
              <a:ext cx="5461049" cy="1165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350" lIns="123350" spcFirstLastPara="1" rIns="123350" wrap="square" tIns="123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Valid patient IDs were ensured across tables by referential integrity checks (encounters.PATIENT matches patients.Id).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0" y="2916333"/>
              <a:ext cx="6807333" cy="1165613"/>
            </a:xfrm>
            <a:prstGeom prst="roundRect">
              <a:avLst>
                <a:gd fmla="val 10000" name="adj"/>
              </a:avLst>
            </a:prstGeom>
            <a:solidFill>
              <a:srgbClr val="48BD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352598" y="3178596"/>
              <a:ext cx="641087" cy="64108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1346283" y="2916333"/>
              <a:ext cx="5461049" cy="1165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1346283" y="2916333"/>
              <a:ext cx="5461049" cy="1165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350" lIns="123350" spcFirstLastPara="1" rIns="123350" wrap="square" tIns="123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Date ranges, confidence score (0–1), and healthcare expense limit (0–1M) were field checked at field level.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0" y="4373350"/>
              <a:ext cx="6807333" cy="1165613"/>
            </a:xfrm>
            <a:prstGeom prst="roundRect">
              <a:avLst>
                <a:gd fmla="val 10000" name="adj"/>
              </a:avLst>
            </a:prstGeom>
            <a:solidFill>
              <a:srgbClr val="6FAB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352598" y="4635613"/>
              <a:ext cx="641087" cy="64108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1346283" y="4373350"/>
              <a:ext cx="5461049" cy="1165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1346283" y="4373350"/>
              <a:ext cx="5461049" cy="1165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350" lIns="123350" spcFirstLastPara="1" rIns="123350" wrap="square" tIns="123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Confirmation with the matrix of Week 12 was made for the decision matrix to assure that it was aligned to user needs (diagnostic speed versus accuracy).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/>
          <p:nvPr/>
        </p:nvSpPr>
        <p:spPr>
          <a:xfrm>
            <a:off x="0" y="-1"/>
            <a:ext cx="12191695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>
            <p:ph type="title"/>
          </p:nvPr>
        </p:nvSpPr>
        <p:spPr>
          <a:xfrm>
            <a:off x="6590662" y="4267832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pic>
        <p:nvPicPr>
          <p:cNvPr descr="Handshake" id="208" name="Google Shape;2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470" y="1815320"/>
            <a:ext cx="4141760" cy="4141760"/>
          </a:xfrm>
          <a:custGeom>
            <a:rect b="b" l="l" r="r" t="t"/>
            <a:pathLst>
              <a:path extrusionOk="0" h="4377846" w="414176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09" name="Google Shape;209;p19"/>
          <p:cNvGrpSpPr/>
          <p:nvPr/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10" name="Google Shape;210;p19"/>
            <p:cNvSpPr/>
            <p:nvPr/>
          </p:nvSpPr>
          <p:spPr>
            <a:xfrm flipH="1">
              <a:off x="305" y="34854"/>
              <a:ext cx="6028697" cy="6817170"/>
            </a:xfrm>
            <a:custGeom>
              <a:rect b="b" l="l" r="r" t="t"/>
              <a:pathLst>
                <a:path extrusionOk="0" h="6817170" w="6028697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411"/>
                  </a:srgbClr>
                </a:gs>
                <a:gs pos="2000">
                  <a:srgbClr val="FFFFFF">
                    <a:alpha val="9411"/>
                  </a:srgbClr>
                </a:gs>
                <a:gs pos="16000">
                  <a:srgbClr val="70AD47">
                    <a:alpha val="9411"/>
                  </a:srgbClr>
                </a:gs>
                <a:gs pos="85000">
                  <a:srgbClr val="4472C4">
                    <a:alpha val="9411"/>
                  </a:srgbClr>
                </a:gs>
                <a:gs pos="100000">
                  <a:srgbClr val="FFFFFF">
                    <a:alpha val="9411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9"/>
            <p:cNvSpPr/>
            <p:nvPr/>
          </p:nvSpPr>
          <p:spPr>
            <a:xfrm flipH="1">
              <a:off x="305" y="1"/>
              <a:ext cx="6165116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411"/>
                  </a:srgbClr>
                </a:gs>
                <a:gs pos="2000">
                  <a:srgbClr val="FFFFFF">
                    <a:alpha val="9411"/>
                  </a:srgbClr>
                </a:gs>
                <a:gs pos="16000">
                  <a:srgbClr val="70AD47">
                    <a:alpha val="9411"/>
                  </a:srgbClr>
                </a:gs>
                <a:gs pos="85000">
                  <a:srgbClr val="4472C4">
                    <a:alpha val="9411"/>
                  </a:srgbClr>
                </a:gs>
                <a:gs pos="100000">
                  <a:srgbClr val="FFFFFF">
                    <a:alpha val="9411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9"/>
            <p:cNvSpPr/>
            <p:nvPr/>
          </p:nvSpPr>
          <p:spPr>
            <a:xfrm flipH="1">
              <a:off x="305" y="-5977"/>
              <a:ext cx="6238675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411"/>
                  </a:srgbClr>
                </a:gs>
                <a:gs pos="2000">
                  <a:srgbClr val="FFFFFF">
                    <a:alpha val="9411"/>
                  </a:srgbClr>
                </a:gs>
                <a:gs pos="16000">
                  <a:srgbClr val="70AD47">
                    <a:alpha val="9411"/>
                  </a:srgbClr>
                </a:gs>
                <a:gs pos="85000">
                  <a:srgbClr val="4472C4">
                    <a:alpha val="9411"/>
                  </a:srgbClr>
                </a:gs>
                <a:gs pos="100000">
                  <a:srgbClr val="FFFFFF">
                    <a:alpha val="9411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